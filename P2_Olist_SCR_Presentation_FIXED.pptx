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34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00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E044A7">
              <a:alpha val="22000"/>
            </a:srgbClr>
          </a:solidFill>
          <a:ln w="12700">
            <a:solidFill>
              <a:srgbClr val="E044A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91840"/>
            <a:ext cx="2560320" cy="2560320"/>
          </a:xfrm>
          <a:prstGeom prst="ellipse">
            <a:avLst/>
          </a:prstGeom>
          <a:solidFill>
            <a:srgbClr val="F4C0D1">
              <a:alpha val="28000"/>
            </a:srgbClr>
          </a:solidFill>
          <a:ln w="12700">
            <a:solidFill>
              <a:srgbClr val="F4C0D1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822960"/>
            <a:ext cx="2194560" cy="329184"/>
          </a:xfrm>
          <a:prstGeom prst="roundRect">
            <a:avLst>
              <a:gd name="adj" fmla="val 19444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B007B"/>
                </a:solidFill>
              </a:rPr>
              <a:t>PORTFOLIO PROJECT 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Olist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29992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 · Delivery Efficiency · Customer Satisfaction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Jumoke Akomolafe  |  May 2026  |  Data Analytics Portfolio  |  #jumoke_data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28600"/>
            <a:ext cx="1005840" cy="292608"/>
          </a:xfrm>
          <a:prstGeom prst="roundRect">
            <a:avLst>
              <a:gd name="adj" fmla="val 21875"/>
            </a:avLst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0" y="228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SITUATION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Olist Marketplace: Scale, Reach &amp; Performance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347472" y="841248"/>
            <a:ext cx="8394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is Brazil's largest department store marketplace, connecting thousands of small merchants to major e-commerce platforms. This analysis covers ~99,400 orders placed between 2016 and 2018, spanning 8 datasets: customers, sellers, products, payments, and reviews.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3282696"/>
            <a:ext cx="1591056" cy="1691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246120"/>
            <a:ext cx="159105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3246120"/>
            <a:ext cx="1591056" cy="82296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341071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R$15.8M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0624" y="416052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" y="4544568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89404" y="3282696"/>
            <a:ext cx="1591056" cy="1691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2828" y="3246120"/>
            <a:ext cx="159105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2828" y="3246120"/>
            <a:ext cx="1591056" cy="82296"/>
          </a:xfrm>
          <a:prstGeom prst="rect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5980" y="341071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25980" y="416052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25980" y="4544568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analysed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94760" y="3282696"/>
            <a:ext cx="1591056" cy="1691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3246120"/>
            <a:ext cx="159105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58184" y="3246120"/>
            <a:ext cx="1591056" cy="82296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31336" y="341071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831336" y="416052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31336" y="4544568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00116" y="3282696"/>
            <a:ext cx="1591056" cy="1691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3540" y="3246120"/>
            <a:ext cx="159105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3246120"/>
            <a:ext cx="1591056" cy="82296"/>
          </a:xfrm>
          <a:prstGeom prst="rect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6692" y="341071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536692" y="416052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6692" y="4544568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5.0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05472" y="3282696"/>
            <a:ext cx="1591056" cy="1691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68896" y="3246120"/>
            <a:ext cx="1591056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68896" y="3246120"/>
            <a:ext cx="1591056" cy="82296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3410712"/>
            <a:ext cx="14447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242048" y="416052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42048" y="4544568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revenue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B00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28600"/>
            <a:ext cx="1005840" cy="292608"/>
          </a:xfrm>
          <a:prstGeom prst="roundRect">
            <a:avLst>
              <a:gd name="adj" fmla="val 21875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0" y="228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B007B"/>
                </a:solidFill>
              </a:rPr>
              <a:t>COMPLICATION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Revenue Masks Three Critical Weak Spots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R$15.8M in revenue, the data reveals gaps that risk customer loyalty and future growth.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2724912" cy="3401568"/>
          </a:xfrm>
          <a:prstGeom prst="rect">
            <a:avLst/>
          </a:prstGeom>
          <a:solidFill>
            <a:srgbClr val="1A0020"/>
          </a:solidFill>
          <a:ln w="12700">
            <a:solidFill>
              <a:srgbClr val="1A0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71600"/>
            <a:ext cx="2724912" cy="82296"/>
          </a:xfrm>
          <a:prstGeom prst="rect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63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4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12064" y="205740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2606040"/>
            <a:ext cx="23957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generates a disproportionate share of revenue. Northern and Central-West states show minimal activity, leaving large customer segments untapped and the business overly dependent on one region.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724912" cy="3401568"/>
          </a:xfrm>
          <a:prstGeom prst="rect">
            <a:avLst/>
          </a:prstGeom>
          <a:solidFill>
            <a:srgbClr val="1A0020"/>
          </a:solidFill>
          <a:ln w="12700">
            <a:solidFill>
              <a:srgbClr val="1A0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371600"/>
            <a:ext cx="2724912" cy="82296"/>
          </a:xfrm>
          <a:prstGeom prst="rect">
            <a:avLst/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463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64992" y="205740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Drives Bad Reviews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2606040"/>
            <a:ext cx="23957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orders arrived late. Analysis shows a direct correlation: late deliveries consistently receive 1 to 2-star reviews, pulling down the platform-wide average and damaging seller reputation.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1371600"/>
            <a:ext cx="2724912" cy="3401568"/>
          </a:xfrm>
          <a:prstGeom prst="rect">
            <a:avLst/>
          </a:prstGeom>
          <a:solidFill>
            <a:srgbClr val="1A0020"/>
          </a:solidFill>
          <a:ln w="12700">
            <a:solidFill>
              <a:srgbClr val="1A0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3328" y="1371600"/>
            <a:ext cx="2724912" cy="82296"/>
          </a:xfrm>
          <a:prstGeom prst="rect">
            <a:avLst/>
          </a:prstGeom>
          <a:solidFill>
            <a:srgbClr val="B8B3F4"/>
          </a:solidFill>
          <a:ln w="12700">
            <a:solidFill>
              <a:srgbClr val="B8B3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463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B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17920" y="205740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Is Highly Skewed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606040"/>
            <a:ext cx="23957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B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dominates category revenue, while dozens of other categories generate negligible volume. This concentration creates revenue fragility if demand in one category shifts.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28600"/>
            <a:ext cx="1005840" cy="292608"/>
          </a:xfrm>
          <a:prstGeom prst="roundRect">
            <a:avLst>
              <a:gd name="adj" fmla="val 21875"/>
            </a:avLst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0" y="228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to Protect Revenue &amp; Improve Customer Trust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83941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34440"/>
            <a:ext cx="493776" cy="493776"/>
          </a:xfrm>
          <a:prstGeom prst="ellipse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344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05156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Seller Recruitment Outside São Paulo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380744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sellers and logistics providers in underserved Northern and Central-West states. Local seller presence reduces freight cost and delivery time, directly improving review scores in those regions.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56832" y="1325880"/>
            <a:ext cx="2029968" cy="402336"/>
          </a:xfrm>
          <a:prstGeom prst="roundRect">
            <a:avLst>
              <a:gd name="adj" fmla="val 18182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132588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007B"/>
                </a:solidFill>
              </a:rPr>
              <a:t>Target: 3 new states in 12 months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2258568"/>
            <a:ext cx="8394192" cy="1188720"/>
          </a:xfrm>
          <a:prstGeom prst="rect">
            <a:avLst/>
          </a:prstGeom>
          <a:solidFill>
            <a:srgbClr val="F7F5FB"/>
          </a:solidFill>
          <a:ln w="12700">
            <a:solidFill>
              <a:srgbClr val="E0D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532888"/>
            <a:ext cx="493776" cy="493776"/>
          </a:xfrm>
          <a:prstGeom prst="ellipse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328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35000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Delivery SLA Dashboard for Sellers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679192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seller-facing view showing estimated vs actual delivery by route and carrier. Sellers with on-time rates below 85% receive automatic alerts, preventing late deliveries before they become 1-star reviews.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56832" y="2624328"/>
            <a:ext cx="2029968" cy="402336"/>
          </a:xfrm>
          <a:prstGeom prst="roundRect">
            <a:avLst>
              <a:gd name="adj" fmla="val 18182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262432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007B"/>
                </a:solidFill>
              </a:rPr>
              <a:t>Target: Late orders 8% → under 4%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557016"/>
            <a:ext cx="83941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831336"/>
            <a:ext cx="493776" cy="493776"/>
          </a:xfrm>
          <a:prstGeom prst="ellipse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64845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Revenue Across Mid-Tier Categories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977640"/>
            <a:ext cx="5394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5–8 mid-performing categories with strong demand signals (high views, low conversions) and run targeted promotions. Reducing the revenue gap between top and bottom categories de-risks the portfolio.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56832" y="3922776"/>
            <a:ext cx="2029968" cy="402336"/>
          </a:xfrm>
          <a:prstGeom prst="roundRect">
            <a:avLst>
              <a:gd name="adj" fmla="val 18182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392277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007B"/>
                </a:solidFill>
              </a:rPr>
              <a:t>Target: Top 3 categories below 40% of revenue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00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E044A7">
              <a:alpha val="20000"/>
            </a:srgbClr>
          </a:solidFill>
          <a:ln w="12700">
            <a:solidFill>
              <a:srgbClr val="E044A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926080"/>
            <a:ext cx="2743200" cy="2743200"/>
          </a:xfrm>
          <a:prstGeom prst="ellipse">
            <a:avLst/>
          </a:prstGeom>
          <a:solidFill>
            <a:srgbClr val="F4C0D1">
              <a:alpha val="25000"/>
            </a:srgbClr>
          </a:solidFill>
          <a:ln w="12700">
            <a:solidFill>
              <a:srgbClr val="F4C0D1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85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kern="0" spc="20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is generating R$15.8M. But sustainable growth requires fixing the 8% delivery failure rate, expanding beyond São Paulo, and balancing category dependency.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697480"/>
            <a:ext cx="2514600" cy="420624"/>
          </a:xfrm>
          <a:prstGeom prst="roundRect">
            <a:avLst>
              <a:gd name="adj" fmla="val 21739"/>
            </a:avLst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9748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Geographic Expansion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697480"/>
            <a:ext cx="2514600" cy="420624"/>
          </a:xfrm>
          <a:prstGeom prst="roundRect">
            <a:avLst>
              <a:gd name="adj" fmla="val 21739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69748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007B"/>
                </a:solidFill>
              </a:rPr>
              <a:t>Delivery SLA Monitoring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2514600" cy="420624"/>
          </a:xfrm>
          <a:prstGeom prst="roundRect">
            <a:avLst>
              <a:gd name="adj" fmla="val 21739"/>
            </a:avLst>
          </a:prstGeom>
          <a:solidFill>
            <a:srgbClr val="B8B3F4"/>
          </a:solidFill>
          <a:ln w="12700">
            <a:solidFill>
              <a:srgbClr val="B8B3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69748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007B"/>
                </a:solidFill>
              </a:rPr>
              <a:t>Category Diversification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337560"/>
            <a:ext cx="7772400" cy="27432"/>
          </a:xfrm>
          <a:prstGeom prst="rect">
            <a:avLst/>
          </a:prstGeom>
          <a:solidFill>
            <a:srgbClr val="B8B3F4">
              <a:alpha val="50000"/>
            </a:srgbClr>
          </a:solidFill>
          <a:ln w="12700">
            <a:solidFill>
              <a:srgbClr val="B8B3F4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5478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Jumoke Akomolafe  |  Data Analytics Portfolio  |  #jumoke_data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3547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SQL  •  Power BI  •  Excel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1148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viewing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471</Words>
  <Application>Microsoft Office PowerPoint</Application>
  <PresentationFormat>On-screen Show (16:9)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SCR Analysis</dc:title>
  <dc:subject>PptxGenJS Presentation</dc:subject>
  <dc:creator>Jumoke Akomolafe</dc:creator>
  <cp:lastModifiedBy>Jumoke Akomolafe</cp:lastModifiedBy>
  <cp:revision>2</cp:revision>
  <dcterms:created xsi:type="dcterms:W3CDTF">2026-05-12T17:17:10Z</dcterms:created>
  <dcterms:modified xsi:type="dcterms:W3CDTF">2026-05-20T09:57:07Z</dcterms:modified>
</cp:coreProperties>
</file>